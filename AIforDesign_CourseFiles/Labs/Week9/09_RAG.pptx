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</p:sldMasterIdLst>
  <p:notesMasterIdLst>
    <p:notesMasterId r:id="rId10"/>
  </p:notesMasterIdLst>
  <p:sldIdLst>
    <p:sldId id="264" r:id="rId5"/>
    <p:sldId id="307" r:id="rId6"/>
    <p:sldId id="308" r:id="rId7"/>
    <p:sldId id="281" r:id="rId8"/>
    <p:sldId id="31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5DE01F-F16E-0E13-F6FE-03BAD992ED5E}" name="Shenghui SONG" initials="SS" userId="S::eeshsong@ust.hk::529d8826-88e8-4990-a0d1-8cf31841e916" providerId="AD"/>
  <p188:author id="{297892EA-0A08-3DE1-D7C1-558C20F12E3D}" name="XU Kaiyan" initials="XK" userId="S::kxuav_connect.ust.hk#ext#@gohkust.onmicrosoft.com::8fcd1e7e-604c-4a2b-b166-4f356122a66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220" autoAdjust="0"/>
  </p:normalViewPr>
  <p:slideViewPr>
    <p:cSldViewPr snapToGrid="0">
      <p:cViewPr>
        <p:scale>
          <a:sx n="75" d="100"/>
          <a:sy n="75" d="100"/>
        </p:scale>
        <p:origin x="579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C193E-0BA1-4E8F-B020-A0EE65D88C95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C21D92-4DF1-4A15-B4C0-66E05D8BB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78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 </a:t>
            </a:r>
            <a:r>
              <a:rPr lang="en-US" altLang="zh-CN" b="1" dirty="0"/>
              <a:t>vector database</a:t>
            </a:r>
            <a:r>
              <a:rPr lang="en-US" altLang="zh-CN" dirty="0"/>
              <a:t> is a specialized database designed to store and search </a:t>
            </a:r>
            <a:r>
              <a:rPr lang="en-US" altLang="zh-CN" b="1" dirty="0"/>
              <a:t>vector embeddings</a:t>
            </a:r>
            <a:r>
              <a:rPr lang="en-US" altLang="zh-CN" dirty="0"/>
              <a:t>—universal representations of data like text, images, audio, or videos.</a:t>
            </a:r>
          </a:p>
          <a:p>
            <a:r>
              <a:rPr lang="en-US" altLang="zh-CN" dirty="0"/>
              <a:t>Instead of exact matches (like SQL), vector databases perform </a:t>
            </a:r>
            <a:r>
              <a:rPr lang="en-US" altLang="zh-CN" b="1" dirty="0"/>
              <a:t>similarity search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Find items </a:t>
            </a:r>
            <a:r>
              <a:rPr lang="en-US" altLang="zh-CN" i="1" dirty="0"/>
              <a:t>closest</a:t>
            </a:r>
            <a:r>
              <a:rPr lang="en-US" altLang="zh-CN" dirty="0"/>
              <a:t> to a given vector Use metrics like: Cosine similarity Dot product</a:t>
            </a:r>
          </a:p>
          <a:p>
            <a:r>
              <a:rPr lang="en-US" altLang="zh-CN" dirty="0"/>
              <a:t>The following figure illustrates the general workflow of using a vector database.</a:t>
            </a:r>
            <a:br>
              <a:rPr lang="en-US" altLang="zh-CN" dirty="0"/>
            </a:br>
            <a:r>
              <a:rPr lang="en-US" altLang="zh-CN" dirty="0"/>
              <a:t>First, the query content is encoded into a vector embedding using an embedding model.</a:t>
            </a:r>
            <a:br>
              <a:rPr lang="en-US" altLang="zh-CN" dirty="0"/>
            </a:br>
            <a:r>
              <a:rPr lang="en-US" altLang="zh-CN" dirty="0"/>
              <a:t>Then, similarity metrics such as cosine similarity or dot product are applied to search the vector database for the most relevant results.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C21D92-4DF1-4A15-B4C0-66E05D8BB12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687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C21D92-4DF1-4A15-B4C0-66E05D8BB12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231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920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360000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1377863"/>
            <a:ext cx="9238434" cy="47181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32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3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200" y="360000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1377863"/>
            <a:ext cx="4495800" cy="47181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77863"/>
            <a:ext cx="4495800" cy="47181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2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36000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1299245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2246726"/>
            <a:ext cx="4495800" cy="384927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99244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46726"/>
            <a:ext cx="4495800" cy="384927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125101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125101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875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360000"/>
            <a:ext cx="9238434" cy="86138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91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1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30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1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360000"/>
            <a:ext cx="9238434" cy="86138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1327759"/>
            <a:ext cx="9238434" cy="476824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4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31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580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48A6-EBF4-083C-7BF4-849D8FE71F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77F30-3047-E921-4404-959018D47F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Week 8 Lab</a:t>
            </a:r>
          </a:p>
        </p:txBody>
      </p:sp>
    </p:spTree>
    <p:extLst>
      <p:ext uri="{BB962C8B-B14F-4D97-AF65-F5344CB8AC3E}">
        <p14:creationId xmlns:p14="http://schemas.microsoft.com/office/powerpoint/2010/main" val="95298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97899-28ED-EDE0-9F89-31E710DAEF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Vector database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155DD-EB7F-BA0A-1299-7E508C322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85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0997B-344F-C3EC-7005-227613813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Role of Vector Databases</a:t>
            </a:r>
          </a:p>
        </p:txBody>
      </p:sp>
      <p:pic>
        <p:nvPicPr>
          <p:cNvPr id="4" name="Picture 3" descr="A diagram of a vector embedding model&#10;&#10;Description automatically generated">
            <a:extLst>
              <a:ext uri="{FF2B5EF4-FFF2-40B4-BE49-F238E27FC236}">
                <a16:creationId xmlns:a16="http://schemas.microsoft.com/office/drawing/2014/main" id="{20D3835F-48A3-1AB2-301B-A9BE96C82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566" y="3474567"/>
            <a:ext cx="7165794" cy="317307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4F05D24-02A4-B7D1-BA7B-35D957990290}"/>
              </a:ext>
            </a:extLst>
          </p:cNvPr>
          <p:cNvSpPr txBox="1"/>
          <p:nvPr/>
        </p:nvSpPr>
        <p:spPr>
          <a:xfrm>
            <a:off x="1381932" y="142756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Cambria Math" panose="02040503050406030204" pitchFamily="18" charset="0"/>
              </a:rPr>
              <a:t>🧠 </a:t>
            </a:r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What are vectors (embeddings)?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CA1119-32DC-B559-A017-BE5F2740782A}"/>
              </a:ext>
            </a:extLst>
          </p:cNvPr>
          <p:cNvSpPr txBox="1"/>
          <p:nvPr/>
        </p:nvSpPr>
        <p:spPr>
          <a:xfrm>
            <a:off x="1508760" y="1928601"/>
            <a:ext cx="60976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When you convert data into a vector, you turn it into a list of numbers that captures its meaning.</a:t>
            </a:r>
            <a:b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For example:</a:t>
            </a:r>
          </a:p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“cat” → </a:t>
            </a:r>
            <a:r>
              <a:rPr lang="en-US" altLang="zh-CN" sz="1800" kern="1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[0.12, -0.98, 0.44, ...]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“dog” → </a:t>
            </a:r>
            <a:r>
              <a:rPr lang="en-US" altLang="zh-CN" sz="1800" kern="1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[0.10, -0.95, 0.40, ...]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Similar items have </a:t>
            </a:r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similar vectors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 (they’re close in space).</a:t>
            </a:r>
          </a:p>
        </p:txBody>
      </p:sp>
    </p:spTree>
    <p:extLst>
      <p:ext uri="{BB962C8B-B14F-4D97-AF65-F5344CB8AC3E}">
        <p14:creationId xmlns:p14="http://schemas.microsoft.com/office/powerpoint/2010/main" val="3910979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952C3F-C75A-5C1F-7AF1-252191BF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Mongo DB</a:t>
            </a:r>
          </a:p>
        </p:txBody>
      </p:sp>
      <p:pic>
        <p:nvPicPr>
          <p:cNvPr id="6" name="Content Placeholder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A306DB5-B0A9-FED1-47E4-5DC8A648F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4327" y="1209335"/>
            <a:ext cx="1609725" cy="63817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3E606C-344D-F20E-15C5-806FD196035E}"/>
              </a:ext>
            </a:extLst>
          </p:cNvPr>
          <p:cNvSpPr txBox="1"/>
          <p:nvPr/>
        </p:nvSpPr>
        <p:spPr>
          <a:xfrm>
            <a:off x="1521417" y="2309247"/>
            <a:ext cx="883919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MongoDB</a:t>
            </a:r>
            <a:r>
              <a:rPr lang="en-US" dirty="0"/>
              <a:t> is a popular open-source NoSQL database designed for modern applications that require scalability, flexibility, and high performance. </a:t>
            </a:r>
          </a:p>
          <a:p>
            <a:endParaRPr lang="en-US" dirty="0"/>
          </a:p>
          <a:p>
            <a:r>
              <a:rPr lang="en-US" dirty="0"/>
              <a:t>Unlike traditional relational databases, MongoDB stores data in a document-oriented format, using BSON (Binary JSON) to represent data structures.</a:t>
            </a:r>
          </a:p>
        </p:txBody>
      </p:sp>
      <p:pic>
        <p:nvPicPr>
          <p:cNvPr id="9" name="Picture 8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C2C9D7D8-E5E8-2C03-DB75-C5A1C51CC3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" t="90" r="181" b="53271"/>
          <a:stretch/>
        </p:blipFill>
        <p:spPr>
          <a:xfrm>
            <a:off x="1526430" y="4079593"/>
            <a:ext cx="5320865" cy="2410237"/>
          </a:xfrm>
          <a:prstGeom prst="rect">
            <a:avLst/>
          </a:prstGeom>
        </p:spPr>
      </p:pic>
      <p:pic>
        <p:nvPicPr>
          <p:cNvPr id="10" name="Picture 9" descr="A table with green text&#10;&#10;Description automatically generated">
            <a:extLst>
              <a:ext uri="{FF2B5EF4-FFF2-40B4-BE49-F238E27FC236}">
                <a16:creationId xmlns:a16="http://schemas.microsoft.com/office/drawing/2014/main" id="{9A805DE2-2018-A853-E0AD-14F409E1B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150" y="4080736"/>
            <a:ext cx="4586206" cy="239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416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8D6C8-56D4-7158-F3B6-0DFF18574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E0657C-8630-7E0E-79F6-BB1ED4494220}"/>
              </a:ext>
            </a:extLst>
          </p:cNvPr>
          <p:cNvSpPr txBox="1">
            <a:spLocks/>
          </p:cNvSpPr>
          <p:nvPr/>
        </p:nvSpPr>
        <p:spPr>
          <a:xfrm>
            <a:off x="769212" y="784464"/>
            <a:ext cx="7714388" cy="1085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zh-CN" dirty="0"/>
              <a:t>Open </a:t>
            </a:r>
            <a:r>
              <a:rPr lang="en-US" altLang="zh-CN" dirty="0">
                <a:ea typeface="+mn-lt"/>
                <a:cs typeface="+mn-lt"/>
              </a:rPr>
              <a:t>08_Vector_database_setup</a:t>
            </a:r>
            <a:r>
              <a:rPr lang="en-US" altLang="zh-CN" dirty="0"/>
              <a:t>.pdf to set up vector database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zh-CN" dirty="0"/>
              <a:t>Open </a:t>
            </a:r>
            <a:r>
              <a:rPr lang="en-US" altLang="zh-CN" dirty="0">
                <a:ea typeface="+mn-lt"/>
                <a:cs typeface="+mn-lt"/>
              </a:rPr>
              <a:t>08_RAGwithMongoDB.ipynb in </a:t>
            </a:r>
            <a:r>
              <a:rPr lang="en-US" altLang="zh-CN" dirty="0" err="1">
                <a:ea typeface="+mn-lt"/>
                <a:cs typeface="+mn-lt"/>
              </a:rPr>
              <a:t>Colab</a:t>
            </a:r>
            <a:r>
              <a:rPr lang="en-US" altLang="zh-CN" dirty="0">
                <a:ea typeface="+mn-lt"/>
                <a:cs typeface="+mn-lt"/>
              </a:rPr>
              <a:t> to </a:t>
            </a:r>
            <a:r>
              <a:rPr lang="en-US" altLang="zh-CN" dirty="0"/>
              <a:t>RAG with </a:t>
            </a:r>
            <a:r>
              <a:rPr lang="en-US" altLang="zh-CN" dirty="0" err="1"/>
              <a:t>mongoDB</a:t>
            </a:r>
            <a:r>
              <a:rPr lang="en-US" altLang="zh-CN" dirty="0"/>
              <a:t>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894308"/>
      </p:ext>
    </p:extLst>
  </p:cSld>
  <p:clrMapOvr>
    <a:masterClrMapping/>
  </p:clrMapOvr>
</p:sld>
</file>

<file path=ppt/theme/theme1.xml><?xml version="1.0" encoding="utf-8"?>
<a:theme xmlns:a="http://schemas.openxmlformats.org/drawingml/2006/main" name="AI_Design_Raised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Design_Raised" id="{E089AF62-7502-5D44-BB3A-82EF6A970DB1}" vid="{9B14517C-DB80-0044-B252-61D8EB9D553C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90CAAEE08C0043AD0DA33D1472A2ED" ma:contentTypeVersion="15" ma:contentTypeDescription="Create a new document." ma:contentTypeScope="" ma:versionID="f6c242101cbccb10428000819e6ad470">
  <xsd:schema xmlns:xsd="http://www.w3.org/2001/XMLSchema" xmlns:xs="http://www.w3.org/2001/XMLSchema" xmlns:p="http://schemas.microsoft.com/office/2006/metadata/properties" xmlns:ns3="292f8448-6036-47bd-86cb-ecceb8756c43" xmlns:ns4="3dbda4a3-8be1-49dd-bfe7-bd66cba20bcc" targetNamespace="http://schemas.microsoft.com/office/2006/metadata/properties" ma:root="true" ma:fieldsID="969d387184287970a79eabb8f09b05b6" ns3:_="" ns4:_="">
    <xsd:import namespace="292f8448-6036-47bd-86cb-ecceb8756c43"/>
    <xsd:import namespace="3dbda4a3-8be1-49dd-bfe7-bd66cba20bcc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ystemTags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2f8448-6036-47bd-86cb-ecceb8756c4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bda4a3-8be1-49dd-bfe7-bd66cba20bcc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92f8448-6036-47bd-86cb-ecceb8756c43" xsi:nil="true"/>
  </documentManagement>
</p:properties>
</file>

<file path=customXml/itemProps1.xml><?xml version="1.0" encoding="utf-8"?>
<ds:datastoreItem xmlns:ds="http://schemas.openxmlformats.org/officeDocument/2006/customXml" ds:itemID="{76B3CA63-85A4-4FC9-B54A-D505D8FDB6E3}">
  <ds:schemaRefs>
    <ds:schemaRef ds:uri="292f8448-6036-47bd-86cb-ecceb8756c43"/>
    <ds:schemaRef ds:uri="3dbda4a3-8be1-49dd-bfe7-bd66cba20bc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1145722-B9D8-4443-B548-11AE816312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9F6BAC-E63B-46C4-92E3-3BDD02D2BA28}">
  <ds:schemaRefs>
    <ds:schemaRef ds:uri="292f8448-6036-47bd-86cb-ecceb8756c43"/>
    <ds:schemaRef ds:uri="3dbda4a3-8be1-49dd-bfe7-bd66cba20bc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AI_Design_template</Template>
  <TotalTime>1</TotalTime>
  <Words>269</Words>
  <Application>Microsoft Office PowerPoint</Application>
  <PresentationFormat>宽屏</PresentationFormat>
  <Paragraphs>21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Arial</vt:lpstr>
      <vt:lpstr>Cambria Math</vt:lpstr>
      <vt:lpstr>Trade Gothic Next Cond</vt:lpstr>
      <vt:lpstr>Trade Gothic Next Light</vt:lpstr>
      <vt:lpstr>AI_Design_Raised</vt:lpstr>
      <vt:lpstr> RAG</vt:lpstr>
      <vt:lpstr>Vector database</vt:lpstr>
      <vt:lpstr>Role of Vector Databases</vt:lpstr>
      <vt:lpstr>Mongo DB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 Kaiyan</dc:creator>
  <cp:lastModifiedBy>jiahao lu</cp:lastModifiedBy>
  <cp:revision>6</cp:revision>
  <dcterms:created xsi:type="dcterms:W3CDTF">2024-10-14T01:36:59Z</dcterms:created>
  <dcterms:modified xsi:type="dcterms:W3CDTF">2026-03-28T06:00:46Z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0x0101002F90CAAEE08C0043AD0DA33D1472A2ED</vt:lpwstr>
  </property>
</Properties>
</file>