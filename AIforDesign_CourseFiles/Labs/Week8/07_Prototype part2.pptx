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2_5D6C0CE9.xml" ContentType="application/vnd.ms-powerpoint.comments+xml"/>
  <Override PartName="/ppt/comments/modernComment_103_DB777422.xml" ContentType="application/vnd.ms-powerpoint.comments+xml"/>
  <Override PartName="/ppt/comments/modernComment_105_C8BE3504.xml" ContentType="application/vnd.ms-powerpoint.comments+xml"/>
  <Override PartName="/ppt/comments/modernComment_107_DB7657AD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4"/>
  </p:sldMasterIdLst>
  <p:sldIdLst>
    <p:sldId id="256" r:id="rId5"/>
    <p:sldId id="262" r:id="rId6"/>
    <p:sldId id="258" r:id="rId7"/>
    <p:sldId id="257" r:id="rId8"/>
    <p:sldId id="259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5DE01F-F16E-0E13-F6FE-03BAD992ED5E}" name="Shenghui SONG" initials="SS" userId="S::eeshsong@ust.hk::529d8826-88e8-4990-a0d1-8cf31841e916" providerId="AD"/>
  <p188:author id="{297892EA-0A08-3DE1-D7C1-558C20F12E3D}" name="XU Kaiyan" initials="XK" userId="S::kxuav_connect.ust.hk#ext#@gohkust.onmicrosoft.com::8fcd1e7e-604c-4a2b-b166-4f356122a66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F1ACF3-77C1-C1B5-7EC6-DBB7DD87EE3D}" v="2" dt="2026-03-19T12:10:22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88"/>
    <p:restoredTop sz="94694"/>
  </p:normalViewPr>
  <p:slideViewPr>
    <p:cSldViewPr snapToGrid="0">
      <p:cViewPr varScale="1">
        <p:scale>
          <a:sx n="111" d="100"/>
          <a:sy n="111" d="100"/>
        </p:scale>
        <p:origin x="23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 Chengwei" userId="S::crenah_connect.ust.hk#ext#@gohkust.onmicrosoft.com::011c8545-95f0-44fc-ab54-816ae6be42e8" providerId="AD" clId="Web-{F9F1ACF3-77C1-C1B5-7EC6-DBB7DD87EE3D}"/>
    <pc:docChg chg="sldOrd">
      <pc:chgData name="REN Chengwei" userId="S::crenah_connect.ust.hk#ext#@gohkust.onmicrosoft.com::011c8545-95f0-44fc-ab54-816ae6be42e8" providerId="AD" clId="Web-{F9F1ACF3-77C1-C1B5-7EC6-DBB7DD87EE3D}" dt="2026-03-19T12:10:22.234" v="1"/>
      <pc:docMkLst>
        <pc:docMk/>
      </pc:docMkLst>
      <pc:sldChg chg="ord">
        <pc:chgData name="REN Chengwei" userId="S::crenah_connect.ust.hk#ext#@gohkust.onmicrosoft.com::011c8545-95f0-44fc-ab54-816ae6be42e8" providerId="AD" clId="Web-{F9F1ACF3-77C1-C1B5-7EC6-DBB7DD87EE3D}" dt="2026-03-19T12:10:22.234" v="1"/>
        <pc:sldMkLst>
          <pc:docMk/>
          <pc:sldMk cId="1013073564" sldId="266"/>
        </pc:sldMkLst>
      </pc:sldChg>
    </pc:docChg>
  </pc:docChgLst>
</pc:chgInfo>
</file>

<file path=ppt/comments/modernComment_102_5D6C0CE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FB7ADCC-3382-40C2-9B24-05038C3A6F89}" authorId="{785DE01F-F16E-0E13-F6FE-03BAD992ED5E}" status="resolved" created="2024-10-14T15:02:15.26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67362281" sldId="258"/>
      <ac:spMk id="3" creationId="{7E7CEBB4-1BB8-7111-2831-36C57A7E82B3}"/>
      <ac:txMk cp="9" len="8">
        <ac:context len="120" hash="2823828138"/>
      </ac:txMk>
    </ac:txMkLst>
    <p188:pos x="1666719" y="260814"/>
    <p188:txBody>
      <a:bodyPr/>
      <a:lstStyle/>
      <a:p>
        <a:r>
          <a:rPr lang="en-HK"/>
          <a:t>To </a:t>
        </a:r>
      </a:p>
    </p188:txBody>
  </p188:cm>
  <p188:cm id="{C8E57314-3DF1-44C3-AB55-3B9F9D31EFD2}" authorId="{785DE01F-F16E-0E13-F6FE-03BAD992ED5E}" status="resolved" created="2024-10-14T15:05:20.760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7362281" sldId="258"/>
      <ac:picMk id="5" creationId="{B1CEF81A-1735-C9D4-04F8-CB4B6EA18D1F}"/>
    </ac:deMkLst>
    <p188:replyLst>
      <p188:reply id="{82DF0A00-B247-44DE-A079-2D71CB8C5B93}" authorId="{297892EA-0A08-3DE1-D7C1-558C20F12E3D}" created="2024-10-14T15:22:50.998">
        <p188:txBody>
          <a:bodyPr/>
          <a:lstStyle/>
          <a:p>
            <a:r>
              <a:rPr lang="en-US"/>
              <a:t>They are In the subsequent description of each primary category.</a:t>
            </a:r>
          </a:p>
        </p188:txBody>
      </p188:reply>
      <p188:reply id="{8B424FE5-68B1-405A-9385-B533D8DE2F96}" authorId="{785DE01F-F16E-0E13-F6FE-03BAD992ED5E}" created="2024-10-14T15:26:04.988">
        <p188:txBody>
          <a:bodyPr/>
          <a:lstStyle/>
          <a:p>
            <a:r>
              <a:rPr lang="en-HK"/>
              <a:t>Thanks. The example is not very obvious to me. Maybe give more explanation in the lab, if not more description here. </a:t>
            </a:r>
          </a:p>
        </p188:txBody>
      </p188:reply>
      <p188:reply id="{33D3F1B4-2FB4-4A88-9A0F-7638FF9CFC4A}" authorId="{297892EA-0A08-3DE1-D7C1-558C20F12E3D}" created="2024-10-14T15:26:32.069">
        <p188:txBody>
          <a:bodyPr/>
          <a:lstStyle/>
          <a:p>
            <a:r>
              <a:rPr lang="en-US"/>
              <a:t>will do.</a:t>
            </a:r>
          </a:p>
        </p188:txBody>
      </p188:reply>
    </p188:replyLst>
    <p188:txBody>
      <a:bodyPr/>
      <a:lstStyle/>
      <a:p>
        <a:r>
          <a:rPr lang="en-HK"/>
          <a:t>What are “secondary” categories?</a:t>
        </a:r>
      </a:p>
    </p188:txBody>
  </p188:cm>
</p188:cmLst>
</file>

<file path=ppt/comments/modernComment_103_DB77742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EBBFFA-80FF-47BA-88A3-4D8734A6975B}" authorId="{785DE01F-F16E-0E13-F6FE-03BAD992ED5E}" status="resolved" created="2024-10-14T15:04:34.295" complete="100000">
    <pc:sldMkLst xmlns:pc="http://schemas.microsoft.com/office/powerpoint/2013/main/command">
      <pc:docMk/>
      <pc:sldMk cId="3682038818" sldId="259"/>
    </pc:sldMkLst>
    <p188:txBody>
      <a:bodyPr/>
      <a:lstStyle/>
      <a:p>
        <a:r>
          <a:rPr lang="en-HK"/>
          <a:t>Chain of Thought (CoT) prompt</a:t>
        </a:r>
      </a:p>
    </p188:txBody>
  </p188:cm>
</p188:cmLst>
</file>

<file path=ppt/comments/modernComment_105_C8BE35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EA78004-B032-41AC-AE24-33DDC689667F}" authorId="{785DE01F-F16E-0E13-F6FE-03BAD992ED5E}" status="resolved" created="2024-10-14T15:06:09.825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67908612" sldId="261"/>
      <ac:spMk id="4" creationId="{486AA3E0-F0FA-52B7-B465-593A19937324}"/>
      <ac:txMk cp="217" len="2">
        <ac:context len="299" hash="940267601"/>
      </ac:txMk>
    </ac:txMkLst>
    <p188:pos x="2418157" y="2061453"/>
    <p188:txBody>
      <a:bodyPr/>
      <a:lstStyle/>
      <a:p>
        <a:r>
          <a:rPr lang="en-HK"/>
          <a:t>another</a:t>
        </a:r>
      </a:p>
    </p188:txBody>
  </p188:cm>
</p188:cmLst>
</file>

<file path=ppt/comments/modernComment_107_DB7657A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903C87-945F-466A-AF51-6E5E17CDA1E2}" authorId="{785DE01F-F16E-0E13-F6FE-03BAD992ED5E}" status="resolved" created="2024-10-14T15:07:37.02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81965997" sldId="263"/>
      <ac:spMk id="3" creationId="{8F74588E-56EB-8A91-436A-BB7F015E1604}"/>
      <ac:txMk cp="374">
        <ac:context len="420" hash="4065043099"/>
      </ac:txMk>
    </ac:txMkLst>
    <p188:pos x="553143" y="2841052"/>
    <p188:txBody>
      <a:bodyPr/>
      <a:lstStyle/>
      <a:p>
        <a:r>
          <a:rPr lang="en-HK"/>
          <a:t>O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920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360000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1377863"/>
            <a:ext cx="9238434" cy="471813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32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3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200" y="360000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1377863"/>
            <a:ext cx="4495800" cy="471813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77863"/>
            <a:ext cx="4495800" cy="471813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26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36000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1299245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2246726"/>
            <a:ext cx="4495800" cy="384927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99244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46726"/>
            <a:ext cx="4495800" cy="384927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125101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125101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875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360000"/>
            <a:ext cx="9238434" cy="86138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91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717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30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1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360000"/>
            <a:ext cx="9238434" cy="86138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1327759"/>
            <a:ext cx="9238434" cy="476824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40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31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580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2_5D6C0CE9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DB77742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C8BE350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DB7657AD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74A6-EE73-0540-253F-A1FB34DF71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Prototype part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4E5A6A-1A7C-46A3-3652-2C7C2074C1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r>
              <a:rPr lang="en-US" altLang="zh-CN" dirty="0"/>
              <a:t>Chain of thoughts prompt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Tool</a:t>
            </a:r>
            <a:r>
              <a:rPr lang="zh-CN" altLang="en-US" dirty="0"/>
              <a:t> </a:t>
            </a:r>
            <a:r>
              <a:rPr lang="en-US" altLang="zh-CN" dirty="0"/>
              <a:t>calling</a:t>
            </a:r>
            <a:r>
              <a:rPr lang="zh-CN" altLang="en-US" dirty="0"/>
              <a:t> </a:t>
            </a:r>
            <a:r>
              <a:rPr lang="en-US" altLang="zh-CN" dirty="0"/>
              <a:t>(Function</a:t>
            </a:r>
            <a:r>
              <a:rPr lang="zh-CN" altLang="en-US" dirty="0"/>
              <a:t> </a:t>
            </a:r>
            <a:r>
              <a:rPr lang="en-US" altLang="zh-CN" dirty="0"/>
              <a:t>calling)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682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7472EDF-1DF7-2D4A-E6DB-B3A408EE88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HK" altLang="zh-CN" dirty="0"/>
              <a:t>Chain of thoughts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prompt</a:t>
            </a:r>
            <a:br>
              <a:rPr kumimoji="1" lang="en-US" altLang="zh-CN" dirty="0"/>
            </a:br>
            <a:r>
              <a:rPr kumimoji="1" lang="en-US" altLang="zh-CN" dirty="0"/>
              <a:t>and</a:t>
            </a:r>
            <a:br>
              <a:rPr kumimoji="1" lang="en-US" altLang="zh-CN" dirty="0"/>
            </a:br>
            <a:r>
              <a:rPr kumimoji="1" lang="en-US" altLang="zh-CN" dirty="0"/>
              <a:t>Prompts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chaining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48780556-1BB9-BBA9-185F-DF7001303D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Open</a:t>
            </a:r>
            <a:r>
              <a:rPr lang="zh-CN" altLang="en-US" dirty="0"/>
              <a:t> </a:t>
            </a:r>
            <a:r>
              <a:rPr lang="en-US" altLang="zh-CN" dirty="0"/>
              <a:t>07_llm</a:t>
            </a:r>
            <a:r>
              <a:rPr lang="zh-CN" altLang="en-US" dirty="0"/>
              <a:t> </a:t>
            </a:r>
            <a:r>
              <a:rPr lang="en-US" altLang="zh-CN" dirty="0"/>
              <a:t>functional</a:t>
            </a:r>
            <a:r>
              <a:rPr lang="zh-CN" altLang="en-US" dirty="0"/>
              <a:t> </a:t>
            </a:r>
            <a:r>
              <a:rPr lang="en-US" altLang="zh-CN" dirty="0" err="1"/>
              <a:t>prototype.ipynb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9275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406364-9A50-B1E2-D964-DCBA888E1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classification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7CEBB4-1BB8-7111-2831-36C57A7E8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1377863"/>
            <a:ext cx="9238434" cy="13430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en-US" altLang="zh-CN"/>
              <a:t>Task:</a:t>
            </a:r>
            <a:r>
              <a:rPr kumimoji="1" lang="zh-CN" altLang="en-US"/>
              <a:t> To </a:t>
            </a:r>
            <a:r>
              <a:rPr kumimoji="1" lang="en-HK" altLang="zh-CN"/>
              <a:t>classify inquiries about HKUST into specific categories based on the content provided.</a:t>
            </a:r>
          </a:p>
          <a:p>
            <a:r>
              <a:rPr kumimoji="1" lang="en-US" altLang="zh-CN"/>
              <a:t>Simple</a:t>
            </a:r>
            <a:r>
              <a:rPr kumimoji="1" lang="zh-CN" altLang="en-US"/>
              <a:t> </a:t>
            </a:r>
            <a:r>
              <a:rPr kumimoji="1" lang="en-US" altLang="zh-CN"/>
              <a:t>dataset</a:t>
            </a:r>
            <a:r>
              <a:rPr kumimoji="1" lang="zh-CN" altLang="en-US"/>
              <a:t> </a:t>
            </a:r>
            <a:r>
              <a:rPr kumimoji="1" lang="en-US" altLang="zh-CN"/>
              <a:t>example:</a:t>
            </a:r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1CEF81A-1735-C9D4-04F8-CB4B6EA18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2712431"/>
            <a:ext cx="4670119" cy="3423820"/>
          </a:xfrm>
          <a:prstGeom prst="rect">
            <a:avLst/>
          </a:prstGeom>
        </p:spPr>
      </p:pic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3115451A-9B6A-1F69-2168-4398BC5D60E0}"/>
              </a:ext>
            </a:extLst>
          </p:cNvPr>
          <p:cNvSpPr/>
          <p:nvPr/>
        </p:nvSpPr>
        <p:spPr>
          <a:xfrm rot="5400000">
            <a:off x="2853266" y="4131734"/>
            <a:ext cx="254000" cy="143933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3EA44731-143E-16F4-B37E-47510037F419}"/>
              </a:ext>
            </a:extLst>
          </p:cNvPr>
          <p:cNvSpPr/>
          <p:nvPr/>
        </p:nvSpPr>
        <p:spPr>
          <a:xfrm rot="5400000">
            <a:off x="2853266" y="2836333"/>
            <a:ext cx="254000" cy="143933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6B0BE7-63F5-AA8B-11D6-1255547B8742}"/>
              </a:ext>
            </a:extLst>
          </p:cNvPr>
          <p:cNvSpPr txBox="1"/>
          <p:nvPr/>
        </p:nvSpPr>
        <p:spPr>
          <a:xfrm>
            <a:off x="897467" y="4030133"/>
            <a:ext cx="192193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1400"/>
              <a:t>Secondary category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1DE862-EF77-D632-C4B0-5E63E005194B}"/>
              </a:ext>
            </a:extLst>
          </p:cNvPr>
          <p:cNvSpPr txBox="1"/>
          <p:nvPr/>
        </p:nvSpPr>
        <p:spPr>
          <a:xfrm>
            <a:off x="897466" y="2751666"/>
            <a:ext cx="192193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1400"/>
              <a:t>Primary category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3622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3884E-509D-5124-3B4B-EB7930C28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classification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5E4D8-8074-06EB-218A-AC5065734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Step</a:t>
            </a:r>
            <a:r>
              <a:rPr lang="zh-CN" altLang="en-US" dirty="0"/>
              <a:t> </a:t>
            </a:r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/>
              <a:t>Lower the model‘s temperature to achieve more deterministic and focused outputs.</a:t>
            </a:r>
            <a:r>
              <a:rPr lang="zh-CN" altLang="en-US" dirty="0"/>
              <a:t> </a:t>
            </a:r>
            <a:endParaRPr lang="en-US" altLang="zh-CN" dirty="0"/>
          </a:p>
          <a:p>
            <a:pPr algn="just"/>
            <a:r>
              <a:rPr lang="en-US" altLang="zh-CN" dirty="0"/>
              <a:t>Step</a:t>
            </a:r>
            <a:r>
              <a:rPr lang="zh-CN" altLang="en-US" dirty="0"/>
              <a:t> </a:t>
            </a:r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prompt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input,</a:t>
            </a:r>
            <a:r>
              <a:rPr lang="zh-CN" altLang="en-US" dirty="0"/>
              <a:t> </a:t>
            </a:r>
            <a:r>
              <a:rPr lang="en-US" altLang="zh-CN" dirty="0"/>
              <a:t>behavior,</a:t>
            </a:r>
            <a:r>
              <a:rPr lang="zh-CN" altLang="en-US" dirty="0"/>
              <a:t> </a:t>
            </a:r>
            <a:r>
              <a:rPr lang="en-US" altLang="zh-CN" dirty="0"/>
              <a:t>output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essential</a:t>
            </a:r>
            <a:r>
              <a:rPr lang="zh-CN" altLang="en-US" dirty="0"/>
              <a:t> </a:t>
            </a:r>
            <a:r>
              <a:rPr lang="en-US" altLang="zh-CN" dirty="0"/>
              <a:t>information.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Step</a:t>
            </a:r>
            <a:r>
              <a:rPr lang="zh-CN" altLang="en-US" dirty="0"/>
              <a:t> </a:t>
            </a:r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HK" altLang="zh-CN" dirty="0"/>
              <a:t>Format the </a:t>
            </a:r>
            <a:r>
              <a:rPr lang="en-US" altLang="zh-CN" dirty="0"/>
              <a:t>response.</a:t>
            </a:r>
          </a:p>
        </p:txBody>
      </p:sp>
    </p:spTree>
    <p:extLst>
      <p:ext uri="{BB962C8B-B14F-4D97-AF65-F5344CB8AC3E}">
        <p14:creationId xmlns:p14="http://schemas.microsoft.com/office/powerpoint/2010/main" val="61474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774F82-B7F4-199D-6148-DE96B940B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AI</a:t>
            </a:r>
            <a:r>
              <a:rPr kumimoji="1" lang="zh-CN" altLang="en-US"/>
              <a:t> </a:t>
            </a:r>
            <a:r>
              <a:rPr kumimoji="1" lang="en-US" altLang="zh-CN"/>
              <a:t>agents</a:t>
            </a:r>
            <a:r>
              <a:rPr kumimoji="1" lang="zh-CN" altLang="en-US"/>
              <a:t> </a:t>
            </a:r>
            <a:r>
              <a:rPr kumimoji="1" lang="en-US" altLang="zh-CN"/>
              <a:t>for</a:t>
            </a:r>
            <a:r>
              <a:rPr kumimoji="1" lang="zh-CN" altLang="en-US"/>
              <a:t> </a:t>
            </a:r>
            <a:r>
              <a:rPr kumimoji="1" lang="en-US" altLang="zh-CN"/>
              <a:t>a</a:t>
            </a:r>
            <a:r>
              <a:rPr kumimoji="1" lang="zh-CN" altLang="en-US"/>
              <a:t> </a:t>
            </a:r>
            <a:r>
              <a:rPr lang="en-HK" altLang="zh-CN" b="1" i="0">
                <a:effectLst/>
                <a:latin typeface="Trade Gothic Next Cond"/>
              </a:rPr>
              <a:t>Souvenir Shop</a:t>
            </a:r>
            <a:endParaRPr lang="zh-CN" altLang="en-US">
              <a:latin typeface="Trade Gothic Next Cond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9C135D-2456-B69D-1120-CD8B07002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1377863"/>
            <a:ext cx="9238434" cy="18448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kumimoji="1" lang="en-HK" altLang="zh-CN"/>
              <a:t>Chain of Thought</a:t>
            </a:r>
            <a:r>
              <a:rPr kumimoji="1" lang="zh-CN" altLang="en-US"/>
              <a:t> </a:t>
            </a:r>
            <a:r>
              <a:rPr kumimoji="1" lang="en-US" altLang="zh-CN"/>
              <a:t>(COT) prompt:</a:t>
            </a:r>
          </a:p>
          <a:p>
            <a:pPr marL="0" indent="0">
              <a:buNone/>
            </a:pPr>
            <a:r>
              <a:rPr kumimoji="1" lang="en-HK" altLang="zh-CN"/>
              <a:t>CoT prompt is a technique used in AI to improve reasoning and problem-solving. It involves providing intermediate reasoning steps in a structured way, allowing the model to break down complex tasks into simpler parts.</a:t>
            </a:r>
            <a:endParaRPr kumimoji="1" lang="zh-CN" altLang="en-US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5F6111D-3EF5-A7A3-A5F4-F36A4FE5C2CA}"/>
              </a:ext>
            </a:extLst>
          </p:cNvPr>
          <p:cNvSpPr txBox="1">
            <a:spLocks/>
          </p:cNvSpPr>
          <p:nvPr/>
        </p:nvSpPr>
        <p:spPr>
          <a:xfrm>
            <a:off x="1360740" y="3233881"/>
            <a:ext cx="9238434" cy="2515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6344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008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CN"/>
          </a:p>
          <a:p>
            <a:r>
              <a:rPr kumimoji="1" lang="en-US" altLang="zh-CN"/>
              <a:t>Step 1:</a:t>
            </a:r>
            <a:r>
              <a:rPr kumimoji="1" lang="zh-CN" altLang="en-US"/>
              <a:t> </a:t>
            </a:r>
            <a:r>
              <a:rPr kumimoji="1" lang="en-US" altLang="zh-CN"/>
              <a:t>Break down complex tasks into simpler parts.  </a:t>
            </a:r>
          </a:p>
          <a:p>
            <a:r>
              <a:rPr kumimoji="1" lang="en-US" altLang="zh-CN"/>
              <a:t>Step 2: Provide essential</a:t>
            </a:r>
            <a:r>
              <a:rPr kumimoji="1" lang="zh-CN" altLang="en-US"/>
              <a:t> </a:t>
            </a:r>
            <a:r>
              <a:rPr kumimoji="1" lang="en-US" altLang="zh-CN"/>
              <a:t>information for each task.  </a:t>
            </a:r>
          </a:p>
          <a:p>
            <a:r>
              <a:rPr kumimoji="1" lang="en-US" altLang="zh-CN"/>
              <a:t>Step 3: Ensure the LLM follows the instructions step by step.  </a:t>
            </a:r>
          </a:p>
          <a:p>
            <a:r>
              <a:rPr kumimoji="1" lang="en-US" altLang="zh-CN"/>
              <a:t>Optional:</a:t>
            </a:r>
            <a:r>
              <a:rPr kumimoji="1" lang="zh-CN" altLang="en-US"/>
              <a:t> </a:t>
            </a:r>
            <a:r>
              <a:rPr kumimoji="1" lang="en-US" altLang="zh-CN"/>
              <a:t>Use inner monologue to monitor the reasoning process.</a:t>
            </a:r>
          </a:p>
        </p:txBody>
      </p:sp>
    </p:spTree>
    <p:extLst>
      <p:ext uri="{BB962C8B-B14F-4D97-AF65-F5344CB8AC3E}">
        <p14:creationId xmlns:p14="http://schemas.microsoft.com/office/powerpoint/2010/main" val="36820388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9AA69-6D3F-9CA4-914E-1759A5391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prompt</a:t>
            </a:r>
            <a:r>
              <a:rPr kumimoji="1" lang="zh-CN" altLang="en-US"/>
              <a:t> </a:t>
            </a:r>
            <a:r>
              <a:rPr kumimoji="1" lang="en-US" altLang="zh-CN"/>
              <a:t>chaining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2F36E2-CE91-3D1E-867A-873BE68A5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Prompt</a:t>
            </a:r>
            <a:r>
              <a:rPr kumimoji="1" lang="zh-CN" altLang="en-US"/>
              <a:t> </a:t>
            </a:r>
            <a:r>
              <a:rPr kumimoji="1" lang="en-US" altLang="zh-CN"/>
              <a:t>chaining:</a:t>
            </a:r>
            <a:r>
              <a:rPr kumimoji="1" lang="zh-CN" altLang="en-US"/>
              <a:t> </a:t>
            </a:r>
            <a:r>
              <a:rPr kumimoji="1" lang="en-HK" altLang="zh-CN"/>
              <a:t>A technique where multiple prompts are used sequentially to guide the AI towards a final output.</a:t>
            </a:r>
            <a:endParaRPr kumimoji="1" lang="zh-CN" altLang="en-US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86AA3E0-F0FA-52B7-B465-593A19937324}"/>
              </a:ext>
            </a:extLst>
          </p:cNvPr>
          <p:cNvSpPr txBox="1">
            <a:spLocks/>
          </p:cNvSpPr>
          <p:nvPr/>
        </p:nvSpPr>
        <p:spPr>
          <a:xfrm>
            <a:off x="1429566" y="2410959"/>
            <a:ext cx="9238434" cy="35798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74320" indent="-27432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6344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008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CN"/>
          </a:p>
          <a:p>
            <a:r>
              <a:rPr kumimoji="1" lang="en-US" altLang="zh-CN"/>
              <a:t>Step 1:</a:t>
            </a:r>
            <a:r>
              <a:rPr kumimoji="1" lang="zh-CN" altLang="en-US"/>
              <a:t> </a:t>
            </a:r>
            <a:r>
              <a:rPr kumimoji="1" lang="en-US" altLang="zh-CN"/>
              <a:t>Break down complex tasks into simpler parts.  </a:t>
            </a:r>
          </a:p>
          <a:p>
            <a:r>
              <a:rPr kumimoji="1" lang="en-US" altLang="zh-CN"/>
              <a:t>Step 2: Provide essential</a:t>
            </a:r>
            <a:r>
              <a:rPr kumimoji="1" lang="zh-CN" altLang="en-US"/>
              <a:t> </a:t>
            </a:r>
            <a:r>
              <a:rPr kumimoji="1" lang="en-US" altLang="zh-CN"/>
              <a:t>information for each task.  </a:t>
            </a:r>
          </a:p>
          <a:p>
            <a:r>
              <a:rPr kumimoji="1" lang="en-US" altLang="zh-CN"/>
              <a:t>Step 3: </a:t>
            </a:r>
            <a:r>
              <a:rPr lang="en-HK" altLang="zh-CN"/>
              <a:t>Utilize multiple AI agents to complete a task by using the output from one agent as the input for another one.</a:t>
            </a:r>
            <a:br>
              <a:rPr lang="en-HK" altLang="zh-CN"/>
            </a:br>
            <a:br>
              <a:rPr lang="en-HK" altLang="zh-CN"/>
            </a:br>
            <a:r>
              <a:rPr kumimoji="1" lang="en-US" altLang="zh-CN"/>
              <a:t>Optional:</a:t>
            </a:r>
            <a:r>
              <a:rPr kumimoji="1" lang="zh-CN" altLang="en-US"/>
              <a:t> </a:t>
            </a:r>
            <a:r>
              <a:rPr kumimoji="1" lang="en-US" altLang="zh-CN"/>
              <a:t>Use other tools to provide information</a:t>
            </a:r>
            <a:r>
              <a:rPr kumimoji="1" lang="zh-CN" altLang="en-US"/>
              <a:t> </a:t>
            </a:r>
            <a:r>
              <a:rPr kumimoji="1" lang="en-US" altLang="zh-CN"/>
              <a:t>(function</a:t>
            </a:r>
            <a:r>
              <a:rPr kumimoji="1" lang="zh-CN" altLang="en-US"/>
              <a:t> </a:t>
            </a:r>
            <a:r>
              <a:rPr kumimoji="1" lang="en-US" altLang="zh-CN"/>
              <a:t>calling)</a:t>
            </a:r>
          </a:p>
        </p:txBody>
      </p:sp>
    </p:spTree>
    <p:extLst>
      <p:ext uri="{BB962C8B-B14F-4D97-AF65-F5344CB8AC3E}">
        <p14:creationId xmlns:p14="http://schemas.microsoft.com/office/powerpoint/2010/main" val="33679086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A2F71-36E7-7372-BFFA-B12E163CD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Code</a:t>
            </a:r>
            <a:r>
              <a:rPr kumimoji="1" lang="zh-CN" altLang="en-US"/>
              <a:t> </a:t>
            </a:r>
            <a:r>
              <a:rPr kumimoji="1" lang="en-US" altLang="zh-CN"/>
              <a:t>sample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74588E-56EB-8A91-436A-BB7F015E1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kumimoji="1" lang="en-US" altLang="zh-CN"/>
              <a:t>Task</a:t>
            </a:r>
            <a:r>
              <a:rPr kumimoji="1" lang="zh-CN" altLang="en-US"/>
              <a:t> </a:t>
            </a:r>
            <a:r>
              <a:rPr kumimoji="1" lang="en-US" altLang="zh-CN"/>
              <a:t>1:</a:t>
            </a:r>
            <a:r>
              <a:rPr kumimoji="1" lang="zh-CN" altLang="en-US"/>
              <a:t> </a:t>
            </a:r>
            <a:r>
              <a:rPr kumimoji="1" lang="en-HK" altLang="zh-CN"/>
              <a:t>Extract relevant product and category names.</a:t>
            </a:r>
          </a:p>
          <a:p>
            <a:r>
              <a:rPr kumimoji="1" lang="en-US" altLang="zh-CN"/>
              <a:t>Task</a:t>
            </a:r>
            <a:r>
              <a:rPr kumimoji="1" lang="zh-CN" altLang="en-US"/>
              <a:t> </a:t>
            </a:r>
            <a:r>
              <a:rPr kumimoji="1" lang="en-US" altLang="zh-CN"/>
              <a:t>2:</a:t>
            </a:r>
            <a:r>
              <a:rPr kumimoji="1" lang="zh-CN" altLang="en-US"/>
              <a:t> </a:t>
            </a:r>
            <a:r>
              <a:rPr kumimoji="1" lang="en-HK" altLang="zh-CN"/>
              <a:t>Retrieve detailed product information for extracted products and categories.</a:t>
            </a:r>
          </a:p>
          <a:p>
            <a:pPr lvl="1"/>
            <a:r>
              <a:rPr kumimoji="1" lang="en-US" altLang="zh-CN"/>
              <a:t>	  </a:t>
            </a:r>
            <a:r>
              <a:rPr kumimoji="1" lang="en-US" altLang="zh-CN" sz="1800" b="0"/>
              <a:t>Function</a:t>
            </a:r>
            <a:r>
              <a:rPr kumimoji="1" lang="zh-CN" altLang="en-US" sz="1800" b="0"/>
              <a:t> </a:t>
            </a:r>
            <a:r>
              <a:rPr kumimoji="1" lang="en-US" altLang="zh-CN" sz="1800" b="0"/>
              <a:t>:</a:t>
            </a:r>
            <a:r>
              <a:rPr kumimoji="1" lang="zh-CN" altLang="en-US" sz="1800" b="0"/>
              <a:t> </a:t>
            </a:r>
            <a:r>
              <a:rPr kumimoji="1" lang="en-HK" altLang="zh-CN" sz="1800" b="0"/>
              <a:t>Read Python string into Python list of dictionaries.</a:t>
            </a:r>
          </a:p>
          <a:p>
            <a:r>
              <a:rPr kumimoji="1" lang="en-US" altLang="zh-CN"/>
              <a:t>Task</a:t>
            </a:r>
            <a:r>
              <a:rPr kumimoji="1" lang="zh-CN" altLang="en-US"/>
              <a:t> </a:t>
            </a:r>
            <a:r>
              <a:rPr kumimoji="1" lang="en-US" altLang="zh-CN"/>
              <a:t>3:</a:t>
            </a:r>
            <a:r>
              <a:rPr kumimoji="1" lang="zh-CN" altLang="en-US"/>
              <a:t> </a:t>
            </a:r>
            <a:r>
              <a:rPr kumimoji="1" lang="en-HK" altLang="zh-CN"/>
              <a:t>Generate answer to user query based on detailed product information</a:t>
            </a:r>
            <a:r>
              <a:rPr kumimoji="1" lang="en-US" altLang="zh-CN"/>
              <a:t>.</a:t>
            </a:r>
          </a:p>
          <a:p>
            <a:r>
              <a:rPr kumimoji="1" lang="en-US" altLang="zh-CN"/>
              <a:t>Task</a:t>
            </a:r>
            <a:r>
              <a:rPr kumimoji="1" lang="zh-CN" altLang="en-US"/>
              <a:t> </a:t>
            </a:r>
            <a:r>
              <a:rPr kumimoji="1" lang="en-US" altLang="zh-CN"/>
              <a:t>4:</a:t>
            </a:r>
            <a:r>
              <a:rPr kumimoji="1" lang="zh-CN" altLang="en-US"/>
              <a:t> </a:t>
            </a:r>
            <a:r>
              <a:rPr kumimoji="1" lang="en-HK" altLang="zh-CN"/>
              <a:t>Check if output is factually based on the provided product information</a:t>
            </a:r>
            <a:r>
              <a:rPr kumimoji="1" lang="en-US" altLang="zh-CN"/>
              <a:t>.</a:t>
            </a:r>
            <a:br>
              <a:rPr kumimoji="1" lang="en-HK" altLang="zh-CN"/>
            </a:br>
            <a:endParaRPr kumimoji="1" lang="en-HK" altLang="zh-CN"/>
          </a:p>
          <a:p>
            <a:pPr marL="0" indent="0">
              <a:buNone/>
            </a:pPr>
            <a:r>
              <a:rPr kumimoji="1" lang="en-US" altLang="zh-CN"/>
              <a:t>&gt;&gt;</a:t>
            </a:r>
            <a:r>
              <a:rPr kumimoji="1" lang="zh-CN" altLang="en-US"/>
              <a:t> O</a:t>
            </a:r>
            <a:r>
              <a:rPr kumimoji="1" lang="en-US" altLang="zh-CN" err="1"/>
              <a:t>rganize</a:t>
            </a:r>
            <a:r>
              <a:rPr kumimoji="1" lang="zh-CN" altLang="en-US"/>
              <a:t> </a:t>
            </a:r>
            <a:r>
              <a:rPr kumimoji="1" lang="en-US" altLang="zh-CN"/>
              <a:t>all</a:t>
            </a:r>
            <a:r>
              <a:rPr kumimoji="1" lang="zh-CN" altLang="en-US"/>
              <a:t> </a:t>
            </a:r>
            <a:r>
              <a:rPr kumimoji="1" lang="en-US" altLang="zh-CN"/>
              <a:t>agents</a:t>
            </a:r>
            <a:r>
              <a:rPr kumimoji="1" lang="zh-CN" altLang="en-US"/>
              <a:t> </a:t>
            </a:r>
            <a:r>
              <a:rPr kumimoji="1" lang="en-HK" altLang="zh-CN"/>
              <a:t>for processing the user query</a:t>
            </a:r>
            <a:br>
              <a:rPr kumimoji="1" lang="en-HK" altLang="zh-CN"/>
            </a:br>
            <a:endParaRPr kumimoji="1" lang="en-HK" altLang="zh-CN"/>
          </a:p>
          <a:p>
            <a:pPr marL="0" indent="0">
              <a:buNone/>
            </a:pPr>
            <a:br>
              <a:rPr kumimoji="1" lang="en-HK" altLang="zh-CN"/>
            </a:br>
            <a:endParaRPr kumimoji="1" lang="en-HK" altLang="zh-CN"/>
          </a:p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19659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FD15C-38D6-74EA-D465-926539B58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30D20F6-5F6D-0779-E9C7-CA9D4817F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343464"/>
            <a:ext cx="7714388" cy="947610"/>
          </a:xfrm>
        </p:spPr>
        <p:txBody>
          <a:bodyPr/>
          <a:lstStyle/>
          <a:p>
            <a:r>
              <a:rPr kumimoji="1" lang="en-US" altLang="zh-CN" dirty="0"/>
              <a:t>Function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calling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56F91C7A-187A-910E-3649-F0296CC535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Open</a:t>
            </a:r>
            <a:r>
              <a:rPr lang="zh-CN" altLang="en-US" dirty="0"/>
              <a:t> </a:t>
            </a:r>
            <a:r>
              <a:rPr lang="en-US" altLang="zh-CN" dirty="0"/>
              <a:t>07_llm_funtion_call.ipynb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8334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12589-73B0-7D13-C8CD-7C809F89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9368E-0FEF-BA4E-6B61-9C4086825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Calling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47E4F-FD9E-EE5A-861E-EAA09BD9F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mechanism to connect LLMs with external tools.</a:t>
            </a:r>
          </a:p>
          <a:p>
            <a:r>
              <a:rPr lang="en-US" altLang="zh-CN" dirty="0"/>
              <a:t>Crucial Concept: The model does NOT run your Python code by itself.</a:t>
            </a:r>
          </a:p>
          <a:p>
            <a:r>
              <a:rPr lang="en-US" altLang="zh-CN" dirty="0"/>
              <a:t>It only tells you which function to call and what arguments to use.</a:t>
            </a:r>
          </a:p>
        </p:txBody>
      </p:sp>
    </p:spTree>
    <p:extLst>
      <p:ext uri="{BB962C8B-B14F-4D97-AF65-F5344CB8AC3E}">
        <p14:creationId xmlns:p14="http://schemas.microsoft.com/office/powerpoint/2010/main" val="1893261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E2309-2D8A-1B9B-88DE-33944468F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87A3D-2A02-4E36-7319-BF633C8F0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Calling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E8287-63D8-6331-B432-AFE734B21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" altLang="zh-CN" dirty="0"/>
              <a:t>Define the Tool and Schema</a:t>
            </a:r>
            <a:endParaRPr lang="en-US" altLang="zh-CN" dirty="0"/>
          </a:p>
          <a:p>
            <a:r>
              <a:rPr lang="en" altLang="zh-CN" dirty="0"/>
              <a:t>We must translate our Python code into a JSON "manual" that the LLM can understand.</a:t>
            </a:r>
            <a:endParaRPr lang="en-US" altLang="zh-CN" dirty="0"/>
          </a:p>
          <a:p>
            <a:r>
              <a:rPr lang="en-US" altLang="zh-CN" dirty="0"/>
              <a:t>The Python function (</a:t>
            </a:r>
            <a:r>
              <a:rPr lang="en-US" altLang="zh-CN" dirty="0" err="1"/>
              <a:t>get_current_weather</a:t>
            </a:r>
            <a:r>
              <a:rPr lang="en-US" altLang="zh-CN" dirty="0"/>
              <a:t>(location, unit="</a:t>
            </a:r>
            <a:r>
              <a:rPr lang="en-US" altLang="zh-CN" dirty="0" err="1"/>
              <a:t>celsius</a:t>
            </a:r>
            <a:r>
              <a:rPr lang="en-US" altLang="zh-CN" dirty="0"/>
              <a:t>")).</a:t>
            </a:r>
          </a:p>
          <a:p>
            <a:r>
              <a:rPr lang="en-US" altLang="zh-CN" dirty="0"/>
              <a:t>The JSON Schema (tools = [{"type": "function", ...}]).</a:t>
            </a:r>
          </a:p>
          <a:p>
            <a:pPr marL="0" indent="0">
              <a:buNone/>
            </a:pPr>
            <a:r>
              <a:rPr lang="en" altLang="zh-CN" dirty="0"/>
              <a:t>The Model Requests a Tool Call</a:t>
            </a:r>
          </a:p>
          <a:p>
            <a:r>
              <a:rPr lang="en" altLang="zh-CN" dirty="0"/>
              <a:t>The LLM pauses text generation and returns a structured request instead.</a:t>
            </a:r>
          </a:p>
          <a:p>
            <a:r>
              <a:rPr lang="en" altLang="zh-CN" dirty="0" err="1"/>
              <a:t>client.chat.completions.create</a:t>
            </a:r>
            <a:r>
              <a:rPr lang="en" altLang="zh-CN" dirty="0"/>
              <a:t>(..., tools=tools)</a:t>
            </a:r>
          </a:p>
          <a:p>
            <a:r>
              <a:rPr lang="en" altLang="zh-CN" dirty="0"/>
              <a:t>The output: </a:t>
            </a:r>
            <a:r>
              <a:rPr lang="en" altLang="zh-CN" dirty="0" err="1"/>
              <a:t>response.choices</a:t>
            </a:r>
            <a:r>
              <a:rPr lang="en" altLang="zh-CN" dirty="0"/>
              <a:t>[0].</a:t>
            </a:r>
            <a:r>
              <a:rPr lang="en" altLang="zh-CN" dirty="0" err="1"/>
              <a:t>message.tool_calls</a:t>
            </a:r>
            <a:endParaRPr lang="en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33001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86369-F950-286D-8EBD-5BD8DF4B2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01C7E-F59B-C772-2CF1-FEF5C2061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Calling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BE54E-D50F-A670-531F-52E9B6F8D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" altLang="zh-CN" dirty="0"/>
              <a:t>Execute the Function Yourself</a:t>
            </a:r>
          </a:p>
          <a:p>
            <a:r>
              <a:rPr lang="en" altLang="zh-CN" dirty="0"/>
              <a:t>Python takes over. We map the LLM's string arguments to our real function.</a:t>
            </a:r>
            <a:endParaRPr lang="en-US" altLang="zh-CN" dirty="0"/>
          </a:p>
          <a:p>
            <a:r>
              <a:rPr lang="en" altLang="zh-CN" dirty="0"/>
              <a:t>Extracting the arguments using </a:t>
            </a:r>
            <a:r>
              <a:rPr lang="en" altLang="zh-CN" dirty="0" err="1"/>
              <a:t>json.loads</a:t>
            </a:r>
            <a:r>
              <a:rPr lang="en" altLang="zh-CN" dirty="0"/>
              <a:t>().</a:t>
            </a:r>
          </a:p>
          <a:p>
            <a:r>
              <a:rPr lang="en" altLang="zh-CN" dirty="0"/>
              <a:t>Running the local Python function: </a:t>
            </a:r>
            <a:r>
              <a:rPr lang="en" altLang="zh-CN" dirty="0" err="1"/>
              <a:t>get_current_weather</a:t>
            </a:r>
            <a:r>
              <a:rPr lang="en" altLang="zh-CN" dirty="0"/>
              <a:t>(**</a:t>
            </a:r>
            <a:r>
              <a:rPr lang="en" altLang="zh-CN" dirty="0" err="1"/>
              <a:t>function_args</a:t>
            </a:r>
            <a:r>
              <a:rPr lang="en" altLang="zh-CN" dirty="0"/>
              <a:t>).</a:t>
            </a:r>
          </a:p>
          <a:p>
            <a:pPr marL="0" indent="0">
              <a:buNone/>
            </a:pPr>
            <a:r>
              <a:rPr lang="en" altLang="zh-CN" dirty="0"/>
              <a:t>Send the Result Back</a:t>
            </a:r>
          </a:p>
          <a:p>
            <a:r>
              <a:rPr lang="en" altLang="zh-CN" dirty="0"/>
              <a:t>We give the LLM the facts so it can write a human-friendly response.</a:t>
            </a:r>
          </a:p>
          <a:p>
            <a:r>
              <a:rPr lang="en" altLang="zh-CN" dirty="0"/>
              <a:t>Appending the tool response with role: "tool".</a:t>
            </a:r>
          </a:p>
          <a:p>
            <a:r>
              <a:rPr lang="en" altLang="zh-CN" dirty="0"/>
              <a:t>The second API call to generate the final answer.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74569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47359-E58A-3A21-A61A-EA5175B6E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D0ACA8-C460-9CCE-BFE4-55B9975B4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Scenario: You are planning a trip and don't want to fiddle with dozens of filters on a booking website. You simply tell the AI: "I'm heading to Tokyo next Friday for a 4-night stay. Find me a boutique hotel near Shibuya, and keep the price under $250 a night.“</a:t>
            </a:r>
          </a:p>
          <a:p>
            <a:r>
              <a:rPr lang="en-US" altLang="zh-CN" dirty="0"/>
              <a:t>The LLM acts as your personal agent. It parses your natural language, calculates the dates (if given today's context), extracts your exact preferences, and formats them perfectly to query a hotel booking API (like Expedia or Booking.com).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7059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8463AF-82DA-21AF-6D58-213D85A37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1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892973-F525-660D-06D3-E1965445F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676" y="1163850"/>
            <a:ext cx="6723809" cy="25333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B262934-118F-894F-842D-E71E5807E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676" y="3820449"/>
            <a:ext cx="5828571" cy="12761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F293A31-1236-26D5-C346-8A1E10062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676" y="5219905"/>
            <a:ext cx="4114286" cy="16380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35F2F2F-CCC2-B07E-2216-2FB3F20562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8706" y="4191333"/>
            <a:ext cx="6876190" cy="2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749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65670-16B8-6AD1-98EA-AA7AFC4CE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7BAD16-ED8E-7A50-E97D-4AFD1CA2A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The Scenario:</a:t>
            </a:r>
            <a:r>
              <a:rPr lang="en-US" altLang="zh-CN" dirty="0"/>
              <a:t> Imagine walking into your apartment after a grueling day. Instead of manually adjusting your Philips Hue lights, closing the smart blinds, and opening Spotify, you just say: </a:t>
            </a:r>
            <a:r>
              <a:rPr lang="en-US" altLang="zh-CN" b="1" dirty="0"/>
              <a:t>"I had a terrible day and I'm super stressed. Draw a bath and set a relaxing mood in the bathroom."</a:t>
            </a:r>
            <a:endParaRPr lang="en-US" altLang="zh-CN" dirty="0"/>
          </a:p>
          <a:p>
            <a:r>
              <a:rPr lang="en-US" altLang="zh-CN" dirty="0"/>
              <a:t>The LLM doesn't just extract data here; it </a:t>
            </a:r>
            <a:r>
              <a:rPr lang="en-US" altLang="zh-CN" i="1" dirty="0"/>
              <a:t>infers</a:t>
            </a:r>
            <a:r>
              <a:rPr lang="en-US" altLang="zh-CN" dirty="0"/>
              <a:t> the appropriate settings based on human emotion. It translates "stressed" and "relaxing mood" into specific light colors (like dim blue or purple) and a specific music genre (like ambient or acoustic).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8437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339257-42DF-80B4-CD6C-22A1CE5D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2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2226B4-B9D8-C1B1-9B68-F77763F6E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700" y="1355143"/>
            <a:ext cx="6647619" cy="5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650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148D1-7F8D-4E5B-DC88-B47D5A004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E9DD6A-95CB-D2F9-3ED7-B7A215814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2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8180E8-3B3B-8994-5550-BB5160035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762" y="1217559"/>
            <a:ext cx="6990476" cy="5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140659"/>
      </p:ext>
    </p:extLst>
  </p:cSld>
  <p:clrMapOvr>
    <a:masterClrMapping/>
  </p:clrMapOvr>
</p:sld>
</file>

<file path=ppt/theme/theme1.xml><?xml version="1.0" encoding="utf-8"?>
<a:theme xmlns:a="http://schemas.openxmlformats.org/drawingml/2006/main" name="AI_Design_Raised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Design_Raised" id="{E089AF62-7502-5D44-BB3A-82EF6A970DB1}" vid="{9B14517C-DB80-0044-B252-61D8EB9D553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90CAAEE08C0043AD0DA33D1472A2ED" ma:contentTypeVersion="15" ma:contentTypeDescription="Create a new document." ma:contentTypeScope="" ma:versionID="f6c242101cbccb10428000819e6ad470">
  <xsd:schema xmlns:xsd="http://www.w3.org/2001/XMLSchema" xmlns:xs="http://www.w3.org/2001/XMLSchema" xmlns:p="http://schemas.microsoft.com/office/2006/metadata/properties" xmlns:ns3="292f8448-6036-47bd-86cb-ecceb8756c43" xmlns:ns4="3dbda4a3-8be1-49dd-bfe7-bd66cba20bcc" targetNamespace="http://schemas.microsoft.com/office/2006/metadata/properties" ma:root="true" ma:fieldsID="969d387184287970a79eabb8f09b05b6" ns3:_="" ns4:_="">
    <xsd:import namespace="292f8448-6036-47bd-86cb-ecceb8756c43"/>
    <xsd:import namespace="3dbda4a3-8be1-49dd-bfe7-bd66cba20bcc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ystemTags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2f8448-6036-47bd-86cb-ecceb8756c43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bda4a3-8be1-49dd-bfe7-bd66cba20bcc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92f8448-6036-47bd-86cb-ecceb8756c4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B3CA63-85A4-4FC9-B54A-D505D8FDB6E3}">
  <ds:schemaRefs>
    <ds:schemaRef ds:uri="292f8448-6036-47bd-86cb-ecceb8756c43"/>
    <ds:schemaRef ds:uri="3dbda4a3-8be1-49dd-bfe7-bd66cba20bc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A9F6BAC-E63B-46C4-92E3-3BDD02D2BA28}">
  <ds:schemaRefs>
    <ds:schemaRef ds:uri="292f8448-6036-47bd-86cb-ecceb8756c43"/>
    <ds:schemaRef ds:uri="3dbda4a3-8be1-49dd-bfe7-bd66cba20bc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1145722-B9D8-4443-B548-11AE816312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AI_Design_template</Template>
  <TotalTime>88</TotalTime>
  <Words>810</Words>
  <Application>Microsoft Macintosh PowerPoint</Application>
  <PresentationFormat>宽屏</PresentationFormat>
  <Paragraphs>68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Arial</vt:lpstr>
      <vt:lpstr>Trade Gothic Next Cond</vt:lpstr>
      <vt:lpstr>Trade Gothic Next Light</vt:lpstr>
      <vt:lpstr>AI_Design_Raised</vt:lpstr>
      <vt:lpstr>Prototype part 2</vt:lpstr>
      <vt:lpstr>Chain of thoughts prompt and Prompts chaining</vt:lpstr>
      <vt:lpstr>classification</vt:lpstr>
      <vt:lpstr>classification</vt:lpstr>
      <vt:lpstr>AI agents for a Souvenir Shop</vt:lpstr>
      <vt:lpstr>prompt chaining</vt:lpstr>
      <vt:lpstr>Code sample</vt:lpstr>
      <vt:lpstr>Function calling</vt:lpstr>
      <vt:lpstr>Function Calling</vt:lpstr>
      <vt:lpstr>Function Calling</vt:lpstr>
      <vt:lpstr>Function Calling</vt:lpstr>
      <vt:lpstr>Example 1</vt:lpstr>
      <vt:lpstr>Example 1</vt:lpstr>
      <vt:lpstr>Example 2</vt:lpstr>
      <vt:lpstr>Example 2</vt:lpstr>
      <vt:lpstr>Example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 Kaiyan</dc:creator>
  <cp:lastModifiedBy>Chengwei Ren</cp:lastModifiedBy>
  <cp:revision>34</cp:revision>
  <dcterms:created xsi:type="dcterms:W3CDTF">2024-10-14T01:36:59Z</dcterms:created>
  <dcterms:modified xsi:type="dcterms:W3CDTF">2026-03-21T14:28:39Z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0x0101002F90CAAEE08C0043AD0DA33D1472A2ED</vt:lpwstr>
  </property>
</Properties>
</file>